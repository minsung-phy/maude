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11"/>
    <p:restoredTop sz="92221"/>
  </p:normalViewPr>
  <p:slideViewPr>
    <p:cSldViewPr snapToGrid="0">
      <p:cViewPr>
        <p:scale>
          <a:sx n="119" d="100"/>
          <a:sy n="119" d="100"/>
        </p:scale>
        <p:origin x="12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78CD0-9ED1-104F-A93B-00F4D82C3BEB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3B3B5-484E-D24F-9238-93BC1407A33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793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3B3B5-484E-D24F-9238-93BC1407A333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639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5BD66-DAEE-967E-99E6-13AC3BF48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01E510-1D6C-005D-FCC6-FE8739B0E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2F16E-051F-8F98-D1ED-9CFFF903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FB20F5-B060-F3FD-F3AF-F679033C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4F625B-3785-214F-9143-2FE86FD6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3004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64460-DE4D-A3C4-6B66-2FAF5FDC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361C2-F9D5-DEAC-FB9A-7420EF6E9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7E69FF-6864-F433-6996-B0F56909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59AB66-1FA9-7DDB-CB67-2E9059B5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14FC52-FCFA-3A93-6466-4CC56269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319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A9D69-A3AE-129F-70B5-AC923750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4A9F25-E8C4-91E8-167C-27FBD6FC9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FD5E78-119B-1C9A-CB5D-0060E221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BAB6B-0F6F-C15B-BBFA-C15E845A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D5CF9D-D1C1-B573-B135-EF5EB6C6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165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FC716-7145-CA99-5EAF-DD304DE2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DAB493-F116-4269-B6F7-7B68EB770B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22F50C-6F16-0383-431D-A7EA3374D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74C7F1-3F43-99FE-B25D-5155DA93A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493EFD-0F27-BDA2-0813-4D7B70B00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FDDDA5-24FD-06B3-14DD-34AC3C20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198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2D97C-1CBB-01D0-9BE2-82689331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B09D27-CD33-5ABD-4EAA-5273A5678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4483CE-DF53-B09F-A85F-9B84F5E8E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9D8D14-904F-0A3B-2426-05FE50CC7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889550-6154-2A67-7CA1-E916EA38B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180FC6-E572-3945-F763-359ECF472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23A11B-62C4-D6D4-CB78-6BA6BC8E2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BACC98-1D4C-D6C4-A215-632EB9C2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856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33CA9-A413-D47B-83CF-05874173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074BF9-9E50-163E-B9E5-A38EDAE05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D92A09-5C9F-35FB-F6E0-49ECE173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8D0E0F-5BB2-3236-FF6C-2D5C56C8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345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55361B-0675-1716-242A-CF3BD9DF4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78469B-51D3-947A-DA76-54ECBF39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3A398B-1A00-66A1-D8F1-FA09163E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416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264CC-1256-1EF2-9196-61A5DB14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F569BC-6CF1-A803-3E73-F3E795E7D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D20D50-2CA9-EE62-8752-0BCFB0AFA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86A687-7F71-66EF-B4F6-9872850D1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5BF57-8E5C-1707-DAF1-08E93DFB4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38514F-326E-A7AB-0699-A31EAD83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63801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56F46-EAC8-6556-B833-6AD7E3A3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1092F2-4884-7250-6BA7-B062F1667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3B7CE8-C7F3-FE1A-8B2A-87B9C958B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3F3B37-C188-DA79-EC52-23597250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EC5868-4654-B3E2-947A-FFD7F5F3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D9E200-F180-6041-F43A-1B2078BF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59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5C4B7-FAF6-9279-13DF-23403AE56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433038-4A7B-A6F7-D537-D7731069E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2F2EF1-A68E-A7EC-1682-47EB4DF2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A21ECF-FA9E-26FC-2A31-3A52282D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85EB71-8E7D-E901-246E-B2717218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9220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5C1A13-24B8-DAA5-8515-7F1460106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06BC3D-F823-B5E2-676E-EE91F3CCF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65E1C-7A0C-579E-9EA1-60D2EDBE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0E93D6-2BD2-6E59-29AB-E7B7322C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2E70B8-012E-A96F-9F95-7A66CFF7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52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286DA2-E384-3D03-4F31-BE611579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392FC5-BD7F-F45C-3283-7184C0BD4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F91A8E-5086-2287-EC84-B813DC0FF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C0D7C-A5D9-B943-8950-4B834DD4829F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158424-A601-6DF7-06E6-6BE71DE7A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0324B-59B7-0589-FD28-C8741B233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4682-F8B0-B740-BA4E-F22E34AA19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734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35C790E7-D369-0FCB-9D6E-4FA0953F200D}"/>
              </a:ext>
            </a:extLst>
          </p:cNvPr>
          <p:cNvGrpSpPr/>
          <p:nvPr/>
        </p:nvGrpSpPr>
        <p:grpSpPr>
          <a:xfrm>
            <a:off x="3347145" y="670547"/>
            <a:ext cx="5497710" cy="2508082"/>
            <a:chOff x="3205606" y="920918"/>
            <a:chExt cx="5497710" cy="2508082"/>
          </a:xfrm>
        </p:grpSpPr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DA5BC6C2-A299-9AEF-6FCB-BF38B09C66F6}"/>
                </a:ext>
              </a:extLst>
            </p:cNvPr>
            <p:cNvSpPr/>
            <p:nvPr/>
          </p:nvSpPr>
          <p:spPr>
            <a:xfrm>
              <a:off x="3205606" y="1378227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atin typeface="AppleMyungjo" pitchFamily="2" charset="-127"/>
                  <a:ea typeface="AppleMyungjo" pitchFamily="2" charset="-127"/>
                </a:rPr>
                <a:t>imp-</a:t>
              </a:r>
              <a:r>
                <a:rPr kumimoji="1" lang="en-US" altLang="ko-KR" dirty="0" err="1">
                  <a:latin typeface="AppleMyungjo" pitchFamily="2" charset="-127"/>
                  <a:ea typeface="AppleMyungjo" pitchFamily="2" charset="-127"/>
                </a:rPr>
                <a:t>syntax.maude</a:t>
              </a:r>
              <a:endParaRPr kumimoji="1" lang="ko-KR" altLang="en-US" dirty="0">
                <a:latin typeface="AppleMyungjo" pitchFamily="2" charset="-127"/>
                <a:ea typeface="AppleMyungjo" pitchFamily="2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A559E26E-02CF-AF4E-E268-D9E33F1AA15A}"/>
                </a:ext>
              </a:extLst>
            </p:cNvPr>
            <p:cNvSpPr/>
            <p:nvPr/>
          </p:nvSpPr>
          <p:spPr>
            <a:xfrm>
              <a:off x="3205606" y="2822713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atin typeface="AppleMyungjo" pitchFamily="2" charset="-127"/>
                  <a:ea typeface="AppleMyungjo" pitchFamily="2" charset="-127"/>
                </a:rPr>
                <a:t>problem5.maude</a:t>
              </a:r>
              <a:endParaRPr kumimoji="1" lang="ko-KR" altLang="en-US" dirty="0">
                <a:latin typeface="AppleMyungjo" pitchFamily="2" charset="-127"/>
                <a:ea typeface="AppleMyungjo" pitchFamily="2" charset="-127"/>
              </a:endParaRP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E9113AC8-F481-21D9-550D-8C282AF067AB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4388363" y="1984514"/>
              <a:ext cx="0" cy="8381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97B075C0-0C69-5695-4041-8EE1DC7BF85B}"/>
                </a:ext>
              </a:extLst>
            </p:cNvPr>
            <p:cNvSpPr/>
            <p:nvPr/>
          </p:nvSpPr>
          <p:spPr>
            <a:xfrm>
              <a:off x="6212417" y="1378226"/>
              <a:ext cx="2490899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atin typeface="AppleMyungjo" pitchFamily="2" charset="-127"/>
                  <a:ea typeface="AppleMyungjo" pitchFamily="2" charset="-127"/>
                </a:rPr>
                <a:t>imp-</a:t>
              </a:r>
              <a:r>
                <a:rPr kumimoji="1" lang="en-US" altLang="ko-KR" dirty="0" err="1">
                  <a:latin typeface="AppleMyungjo" pitchFamily="2" charset="-127"/>
                  <a:ea typeface="AppleMyungjo" pitchFamily="2" charset="-127"/>
                </a:rPr>
                <a:t>examples.maude</a:t>
              </a:r>
              <a:endParaRPr kumimoji="1" lang="ko-KR" altLang="en-US" dirty="0">
                <a:latin typeface="AppleMyungjo" pitchFamily="2" charset="-127"/>
                <a:ea typeface="AppleMyungjo" pitchFamily="2" charset="-127"/>
              </a:endParaRPr>
            </a:p>
          </p:txBody>
        </p:sp>
        <p:cxnSp>
          <p:nvCxnSpPr>
            <p:cNvPr id="11" name="꺾인 연결선[E] 10">
              <a:extLst>
                <a:ext uri="{FF2B5EF4-FFF2-40B4-BE49-F238E27FC236}">
                  <a16:creationId xmlns:a16="http://schemas.microsoft.com/office/drawing/2014/main" id="{5FE55539-F71E-D044-E278-AEBA280E0B40}"/>
                </a:ext>
              </a:extLst>
            </p:cNvPr>
            <p:cNvCxnSpPr>
              <a:cxnSpLocks/>
              <a:stCxn id="9" idx="2"/>
              <a:endCxn id="6" idx="0"/>
            </p:cNvCxnSpPr>
            <p:nvPr/>
          </p:nvCxnSpPr>
          <p:spPr>
            <a:xfrm rot="5400000">
              <a:off x="5504015" y="868861"/>
              <a:ext cx="838200" cy="306950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78DF43-1B69-15B4-ED41-968FBF3FC6EE}"/>
                </a:ext>
              </a:extLst>
            </p:cNvPr>
            <p:cNvSpPr txBox="1"/>
            <p:nvPr/>
          </p:nvSpPr>
          <p:spPr>
            <a:xfrm>
              <a:off x="6148255" y="2413623"/>
              <a:ext cx="1313180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ko-KR" altLang="en-US" sz="1000" dirty="0">
                  <a:latin typeface="AppleMyungjo" pitchFamily="2" charset="-127"/>
                  <a:ea typeface="AppleMyungjo" pitchFamily="2" charset="-127"/>
                </a:rPr>
                <a:t>테스트 케이스 제공</a:t>
              </a:r>
            </a:p>
          </p:txBody>
        </p:sp>
        <p:cxnSp>
          <p:nvCxnSpPr>
            <p:cNvPr id="16" name="꺾인 연결선[E] 15">
              <a:extLst>
                <a:ext uri="{FF2B5EF4-FFF2-40B4-BE49-F238E27FC236}">
                  <a16:creationId xmlns:a16="http://schemas.microsoft.com/office/drawing/2014/main" id="{EE246CA8-8417-CA35-85D2-70A812AB09CC}"/>
                </a:ext>
              </a:extLst>
            </p:cNvPr>
            <p:cNvCxnSpPr>
              <a:cxnSpLocks/>
              <a:stCxn id="5" idx="0"/>
              <a:endCxn id="9" idx="0"/>
            </p:cNvCxnSpPr>
            <p:nvPr/>
          </p:nvCxnSpPr>
          <p:spPr>
            <a:xfrm rot="5400000" flipH="1" flipV="1">
              <a:off x="5923115" y="-156525"/>
              <a:ext cx="1" cy="3069504"/>
            </a:xfrm>
            <a:prstGeom prst="bent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0BD3F0-7E7E-EBFF-DB27-94AE2E1BC94E}"/>
                </a:ext>
              </a:extLst>
            </p:cNvPr>
            <p:cNvSpPr txBox="1"/>
            <p:nvPr/>
          </p:nvSpPr>
          <p:spPr>
            <a:xfrm>
              <a:off x="5548653" y="920918"/>
              <a:ext cx="748923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ko-KR" altLang="en-US" sz="1000" dirty="0">
                  <a:latin typeface="AppleMyungjo" pitchFamily="2" charset="-127"/>
                  <a:ea typeface="AppleMyungjo" pitchFamily="2" charset="-127"/>
                </a:rPr>
                <a:t>문법 제공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D155F46-6A3D-4C2D-638F-E30B6026879D}"/>
                </a:ext>
              </a:extLst>
            </p:cNvPr>
            <p:cNvSpPr txBox="1"/>
            <p:nvPr/>
          </p:nvSpPr>
          <p:spPr>
            <a:xfrm>
              <a:off x="3394691" y="2273349"/>
              <a:ext cx="1056700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ko-KR" altLang="en-US" sz="1000" dirty="0">
                  <a:latin typeface="AppleMyungjo" pitchFamily="2" charset="-127"/>
                  <a:ea typeface="AppleMyungjo" pitchFamily="2" charset="-127"/>
                </a:rPr>
                <a:t>상태 구조 제공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F792B73-ED5D-2384-F2A3-FE1136B95168}"/>
              </a:ext>
            </a:extLst>
          </p:cNvPr>
          <p:cNvSpPr txBox="1"/>
          <p:nvPr/>
        </p:nvSpPr>
        <p:spPr>
          <a:xfrm>
            <a:off x="1299348" y="4016828"/>
            <a:ext cx="99808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altLang="ko-KR" b="0" i="0" dirty="0">
              <a:solidFill>
                <a:srgbClr val="1A1C1E"/>
              </a:solidFill>
              <a:effectLst/>
              <a:latin typeface="AppleMyungjo" pitchFamily="2" charset="-127"/>
              <a:ea typeface="AppleMyungjo" pitchFamily="2" charset="-127"/>
            </a:endParaRPr>
          </a:p>
          <a:p>
            <a:pPr algn="l">
              <a:buFont typeface="+mj-lt"/>
              <a:buAutoNum type="arabicPeriod"/>
            </a:pPr>
            <a:r>
              <a:rPr lang="en" altLang="ko-KR" b="0" i="0" dirty="0">
                <a:solidFill>
                  <a:srgbClr val="0F0F10"/>
                </a:solidFill>
                <a:effectLst/>
                <a:latin typeface="AppleMyungjo" pitchFamily="2" charset="-127"/>
                <a:ea typeface="AppleMyungjo" pitchFamily="2" charset="-127"/>
              </a:rPr>
              <a:t>imp-syntax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가 언어의 문법 뼈대를 정의함</a:t>
            </a:r>
            <a:r>
              <a:rPr lang="en-US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" altLang="ko-KR" b="0" i="0" dirty="0">
                <a:solidFill>
                  <a:srgbClr val="0F0F10"/>
                </a:solidFill>
                <a:effectLst/>
                <a:latin typeface="AppleMyungjo" pitchFamily="2" charset="-127"/>
                <a:ea typeface="AppleMyungjo" pitchFamily="2" charset="-127"/>
              </a:rPr>
              <a:t>imp-examples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가 그 문법을 가져와서 테스트용 소스 코드를 생성함</a:t>
            </a:r>
            <a:r>
              <a:rPr lang="en-US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" altLang="ko-KR" b="0" i="0" dirty="0">
                <a:solidFill>
                  <a:srgbClr val="0F0F10"/>
                </a:solidFill>
                <a:effectLst/>
                <a:latin typeface="AppleMyungjo" pitchFamily="2" charset="-127"/>
                <a:ea typeface="AppleMyungjo" pitchFamily="2" charset="-127"/>
              </a:rPr>
              <a:t>problem5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가 이 두 파일을 모두 로드해서 실제 실행 규칙</a:t>
            </a:r>
            <a:r>
              <a:rPr lang="en-US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(</a:t>
            </a:r>
            <a:r>
              <a:rPr lang="en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SOS)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을 정의하고 검증하는 구조임</a:t>
            </a:r>
            <a:r>
              <a:rPr lang="en-US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.</a:t>
            </a:r>
            <a:br>
              <a:rPr lang="ko-KR" altLang="en-US" dirty="0">
                <a:latin typeface="AppleMyungjo" pitchFamily="2" charset="-127"/>
                <a:ea typeface="AppleMyungjo" pitchFamily="2" charset="-127"/>
              </a:rPr>
            </a:br>
            <a:endParaRPr lang="ko-KR" altLang="en-US" dirty="0">
              <a:latin typeface="AppleMyungjo" pitchFamily="2" charset="-127"/>
              <a:ea typeface="AppleMyungjo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EA0070-EEE3-9FC2-7CCF-22884276B065}"/>
              </a:ext>
            </a:extLst>
          </p:cNvPr>
          <p:cNvSpPr txBox="1"/>
          <p:nvPr/>
        </p:nvSpPr>
        <p:spPr>
          <a:xfrm>
            <a:off x="49406" y="56228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Problem</a:t>
            </a:r>
            <a:r>
              <a:rPr kumimoji="1" lang="ko-KR" altLang="en-US" dirty="0">
                <a:latin typeface="AppleMyungjo" pitchFamily="2" charset="-127"/>
                <a:ea typeface="AppleMyungjo" pitchFamily="2" charset="-127"/>
              </a:rPr>
              <a:t> </a:t>
            </a:r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5</a:t>
            </a:r>
            <a:r>
              <a:rPr kumimoji="1" lang="ko-KR" altLang="en-US" dirty="0">
                <a:latin typeface="AppleMyungjo" pitchFamily="2" charset="-127"/>
                <a:ea typeface="AppleMyungjo" pitchFamily="2" charset="-127"/>
              </a:rPr>
              <a:t> 관계 정리</a:t>
            </a:r>
          </a:p>
        </p:txBody>
      </p:sp>
    </p:spTree>
    <p:extLst>
      <p:ext uri="{BB962C8B-B14F-4D97-AF65-F5344CB8AC3E}">
        <p14:creationId xmlns:p14="http://schemas.microsoft.com/office/powerpoint/2010/main" val="1980323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B5786EA-FF3F-D498-7F59-3DA2D4BE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1180311"/>
            <a:ext cx="7289800" cy="2451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417E28B-639E-44F4-0620-E04EEDCDA846}"/>
              </a:ext>
            </a:extLst>
          </p:cNvPr>
          <p:cNvSpPr/>
          <p:nvPr/>
        </p:nvSpPr>
        <p:spPr>
          <a:xfrm>
            <a:off x="4707467" y="1476587"/>
            <a:ext cx="1828800" cy="24553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638FD4-803B-967F-1801-F334D15768B6}"/>
              </a:ext>
            </a:extLst>
          </p:cNvPr>
          <p:cNvSpPr/>
          <p:nvPr/>
        </p:nvSpPr>
        <p:spPr>
          <a:xfrm>
            <a:off x="4876799" y="2204720"/>
            <a:ext cx="2446867" cy="32173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3D0B14-C362-01FF-B322-515B66B2399A}"/>
              </a:ext>
            </a:extLst>
          </p:cNvPr>
          <p:cNvSpPr/>
          <p:nvPr/>
        </p:nvSpPr>
        <p:spPr>
          <a:xfrm>
            <a:off x="2878667" y="2746586"/>
            <a:ext cx="1320800" cy="28786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A6DB0B-3E5B-351D-50E3-0FF9D98006D3}"/>
              </a:ext>
            </a:extLst>
          </p:cNvPr>
          <p:cNvSpPr/>
          <p:nvPr/>
        </p:nvSpPr>
        <p:spPr>
          <a:xfrm>
            <a:off x="4872566" y="3229129"/>
            <a:ext cx="2446867" cy="32173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DBEF037-45CB-7AFA-1737-E6B3952F2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283" y="3957231"/>
            <a:ext cx="6325434" cy="128699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79731AB-11DF-F86B-D960-809C55AC5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613" y="5570045"/>
            <a:ext cx="5588803" cy="505883"/>
          </a:xfrm>
          <a:prstGeom prst="rect">
            <a:avLst/>
          </a:prstGeom>
        </p:spPr>
      </p:pic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F9322D0-893D-62DA-93F0-E4F227D159F1}"/>
              </a:ext>
            </a:extLst>
          </p:cNvPr>
          <p:cNvSpPr/>
          <p:nvPr/>
        </p:nvSpPr>
        <p:spPr>
          <a:xfrm>
            <a:off x="7663678" y="5570044"/>
            <a:ext cx="2523896" cy="5058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counter</a:t>
            </a:r>
            <a:r>
              <a:rPr kumimoji="1" lang="ko-KR" altLang="en-US" dirty="0">
                <a:latin typeface="AppleMyungjo" pitchFamily="2" charset="-127"/>
                <a:ea typeface="AppleMyungjo" pitchFamily="2" charset="-127"/>
              </a:rPr>
              <a:t> </a:t>
            </a:r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example </a:t>
            </a:r>
            <a:r>
              <a:rPr kumimoji="1" lang="ko-KR" altLang="en-US" dirty="0">
                <a:latin typeface="AppleMyungjo" pitchFamily="2" charset="-127"/>
                <a:ea typeface="AppleMyungjo" pitchFamily="2" charset="-127"/>
              </a:rPr>
              <a:t>발생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935DDC7-D0E3-E6CC-9C44-A4C879CD7549}"/>
              </a:ext>
            </a:extLst>
          </p:cNvPr>
          <p:cNvCxnSpPr>
            <a:stCxn id="16" idx="3"/>
            <a:endCxn id="19" idx="1"/>
          </p:cNvCxnSpPr>
          <p:nvPr/>
        </p:nvCxnSpPr>
        <p:spPr>
          <a:xfrm flipV="1">
            <a:off x="6803416" y="5822986"/>
            <a:ext cx="86026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747115D-16C7-B156-4B86-E3FC3CE42D78}"/>
              </a:ext>
            </a:extLst>
          </p:cNvPr>
          <p:cNvSpPr txBox="1"/>
          <p:nvPr/>
        </p:nvSpPr>
        <p:spPr>
          <a:xfrm>
            <a:off x="49406" y="56228"/>
            <a:ext cx="20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Problem 6-3</a:t>
            </a:r>
            <a:r>
              <a:rPr kumimoji="1" lang="ko-KR" altLang="en-US" dirty="0">
                <a:latin typeface="AppleMyungjo" pitchFamily="2" charset="-127"/>
                <a:ea typeface="AppleMyungjo" pitchFamily="2" charset="-127"/>
              </a:rPr>
              <a:t> 질문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D1E97B-D48E-4953-317D-3499FA6D658B}"/>
              </a:ext>
            </a:extLst>
          </p:cNvPr>
          <p:cNvSpPr txBox="1"/>
          <p:nvPr/>
        </p:nvSpPr>
        <p:spPr>
          <a:xfrm>
            <a:off x="6803416" y="6211669"/>
            <a:ext cx="5317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fairness </a:t>
            </a:r>
            <a:r>
              <a:rPr kumimoji="1" lang="ko-KR" altLang="en-US" dirty="0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속성 둘 다 </a:t>
            </a:r>
            <a:r>
              <a:rPr kumimoji="1" lang="en-US" altLang="ko-KR" dirty="0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counter example </a:t>
            </a:r>
            <a:r>
              <a:rPr kumimoji="1" lang="ko-KR" altLang="en-US" dirty="0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발생하는데</a:t>
            </a:r>
            <a:r>
              <a:rPr kumimoji="1" lang="en-US" altLang="ko-KR" dirty="0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,</a:t>
            </a:r>
          </a:p>
          <a:p>
            <a:r>
              <a:rPr kumimoji="1" lang="ko-KR" altLang="en-US" dirty="0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대체 </a:t>
            </a:r>
            <a:r>
              <a:rPr kumimoji="1" lang="ko-KR" altLang="en-US" dirty="0" err="1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왜일까요</a:t>
            </a:r>
            <a:r>
              <a:rPr kumimoji="1" lang="ko-KR" altLang="en-US" dirty="0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 </a:t>
            </a:r>
            <a:r>
              <a:rPr kumimoji="1" lang="en-US" altLang="ko-KR" dirty="0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..</a:t>
            </a:r>
            <a:r>
              <a:rPr kumimoji="1" lang="ko-KR" altLang="en-US" dirty="0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 </a:t>
            </a:r>
            <a:r>
              <a:rPr kumimoji="1" lang="ko-KR" altLang="en-US" dirty="0" err="1">
                <a:solidFill>
                  <a:srgbClr val="FF0000"/>
                </a:solidFill>
                <a:latin typeface="AppleMyungjo" pitchFamily="2" charset="-127"/>
                <a:ea typeface="AppleMyungjo" pitchFamily="2" charset="-127"/>
              </a:rPr>
              <a:t>ㅠㅠ</a:t>
            </a:r>
            <a:endParaRPr kumimoji="1" lang="ko-KR" altLang="en-US" dirty="0">
              <a:solidFill>
                <a:srgbClr val="FF0000"/>
              </a:solidFill>
              <a:latin typeface="AppleMyungjo" pitchFamily="2" charset="-127"/>
              <a:ea typeface="AppleMyungjo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116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D77718DB-7157-1262-032A-F669C0BBD903}"/>
              </a:ext>
            </a:extLst>
          </p:cNvPr>
          <p:cNvGrpSpPr/>
          <p:nvPr/>
        </p:nvGrpSpPr>
        <p:grpSpPr>
          <a:xfrm>
            <a:off x="1832951" y="1164814"/>
            <a:ext cx="8526097" cy="2368820"/>
            <a:chOff x="129056" y="3789677"/>
            <a:chExt cx="8526097" cy="2368820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0C1A9D69-D5E7-4B74-A950-0DA3D08B4593}"/>
                </a:ext>
              </a:extLst>
            </p:cNvPr>
            <p:cNvSpPr/>
            <p:nvPr/>
          </p:nvSpPr>
          <p:spPr>
            <a:xfrm>
              <a:off x="4913243" y="5552210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atin typeface="AppleMyungjo" pitchFamily="2" charset="-127"/>
                  <a:ea typeface="AppleMyungjo" pitchFamily="2" charset="-127"/>
                </a:rPr>
                <a:t>problem6.maude</a:t>
              </a:r>
              <a:endParaRPr kumimoji="1" lang="ko-KR" altLang="en-US" dirty="0">
                <a:latin typeface="AppleMyungjo" pitchFamily="2" charset="-127"/>
                <a:ea typeface="AppleMyungjo" pitchFamily="2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8FEDCFBF-A147-87F4-48E8-38140749CB90}"/>
                </a:ext>
              </a:extLst>
            </p:cNvPr>
            <p:cNvSpPr/>
            <p:nvPr/>
          </p:nvSpPr>
          <p:spPr>
            <a:xfrm>
              <a:off x="6289640" y="4670942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atin typeface="AppleMyungjo" pitchFamily="2" charset="-127"/>
                  <a:ea typeface="AppleMyungjo" pitchFamily="2" charset="-127"/>
                </a:rPr>
                <a:t>model-checker</a:t>
              </a:r>
              <a:endParaRPr kumimoji="1" lang="ko-KR" altLang="en-US" dirty="0">
                <a:latin typeface="AppleMyungjo" pitchFamily="2" charset="-127"/>
                <a:ea typeface="AppleMyungjo" pitchFamily="2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503F9295-124F-7BEE-7374-34706C5D57B2}"/>
                </a:ext>
              </a:extLst>
            </p:cNvPr>
            <p:cNvSpPr/>
            <p:nvPr/>
          </p:nvSpPr>
          <p:spPr>
            <a:xfrm>
              <a:off x="3536847" y="4670943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latin typeface="AppleMyungjo" pitchFamily="2" charset="-127"/>
                  <a:ea typeface="AppleMyungjo" pitchFamily="2" charset="-127"/>
                </a:rPr>
                <a:t>imp-</a:t>
              </a:r>
              <a:r>
                <a:rPr kumimoji="1" lang="en-US" altLang="ko-KR" sz="1600" dirty="0" err="1">
                  <a:latin typeface="AppleMyungjo" pitchFamily="2" charset="-127"/>
                  <a:ea typeface="AppleMyungjo" pitchFamily="2" charset="-127"/>
                </a:rPr>
                <a:t>semantics.maude</a:t>
              </a:r>
              <a:endParaRPr kumimoji="1" lang="ko-KR" altLang="en-US" sz="1600" dirty="0">
                <a:latin typeface="AppleMyungjo" pitchFamily="2" charset="-127"/>
                <a:ea typeface="AppleMyungjo" pitchFamily="2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0ECEB08D-C043-1277-7F7C-B57D21CB699E}"/>
                </a:ext>
              </a:extLst>
            </p:cNvPr>
            <p:cNvSpPr/>
            <p:nvPr/>
          </p:nvSpPr>
          <p:spPr>
            <a:xfrm>
              <a:off x="129056" y="3789679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atin typeface="AppleMyungjo" pitchFamily="2" charset="-127"/>
                  <a:ea typeface="AppleMyungjo" pitchFamily="2" charset="-127"/>
                </a:rPr>
                <a:t>imp-</a:t>
              </a:r>
              <a:r>
                <a:rPr kumimoji="1" lang="en-US" altLang="ko-KR" dirty="0" err="1">
                  <a:latin typeface="AppleMyungjo" pitchFamily="2" charset="-127"/>
                  <a:ea typeface="AppleMyungjo" pitchFamily="2" charset="-127"/>
                </a:rPr>
                <a:t>syntax.maude</a:t>
              </a:r>
              <a:endParaRPr kumimoji="1" lang="ko-KR" altLang="en-US" dirty="0">
                <a:latin typeface="AppleMyungjo" pitchFamily="2" charset="-127"/>
                <a:ea typeface="AppleMyungjo" pitchFamily="2" charset="-127"/>
              </a:endParaRPr>
            </a:p>
          </p:txBody>
        </p: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31CB6593-067B-47CB-C05E-345D6675A817}"/>
                </a:ext>
              </a:extLst>
            </p:cNvPr>
            <p:cNvSpPr/>
            <p:nvPr/>
          </p:nvSpPr>
          <p:spPr>
            <a:xfrm>
              <a:off x="5106884" y="3789677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latin typeface="AppleMyungjo" pitchFamily="2" charset="-127"/>
                  <a:ea typeface="AppleMyungjo" pitchFamily="2" charset="-127"/>
                </a:rPr>
                <a:t>imp-</a:t>
              </a:r>
              <a:r>
                <a:rPr kumimoji="1" lang="en-US" altLang="ko-KR" sz="1600" dirty="0" err="1">
                  <a:latin typeface="AppleMyungjo" pitchFamily="2" charset="-127"/>
                  <a:ea typeface="AppleMyungjo" pitchFamily="2" charset="-127"/>
                </a:rPr>
                <a:t>strictness.maude</a:t>
              </a:r>
              <a:endParaRPr kumimoji="1" lang="ko-KR" altLang="en-US" sz="1600" dirty="0">
                <a:latin typeface="AppleMyungjo" pitchFamily="2" charset="-127"/>
                <a:ea typeface="AppleMyungjo" pitchFamily="2" charset="-127"/>
              </a:endParaRPr>
            </a:p>
          </p:txBody>
        </p:sp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311CDBD0-F06E-60DE-0E13-4E18531772B2}"/>
                </a:ext>
              </a:extLst>
            </p:cNvPr>
            <p:cNvSpPr/>
            <p:nvPr/>
          </p:nvSpPr>
          <p:spPr>
            <a:xfrm>
              <a:off x="2591934" y="3789678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atin typeface="AppleMyungjo" pitchFamily="2" charset="-127"/>
                  <a:ea typeface="AppleMyungjo" pitchFamily="2" charset="-127"/>
                </a:rPr>
                <a:t>k-</a:t>
              </a:r>
              <a:r>
                <a:rPr kumimoji="1" lang="en-US" altLang="ko-KR" dirty="0" err="1">
                  <a:latin typeface="AppleMyungjo" pitchFamily="2" charset="-127"/>
                  <a:ea typeface="AppleMyungjo" pitchFamily="2" charset="-127"/>
                </a:rPr>
                <a:t>prelude.maude</a:t>
              </a:r>
              <a:endParaRPr kumimoji="1" lang="ko-KR" altLang="en-US" dirty="0">
                <a:latin typeface="AppleMyungjo" pitchFamily="2" charset="-127"/>
                <a:ea typeface="AppleMyungjo" pitchFamily="2" charset="-127"/>
              </a:endParaRPr>
            </a:p>
          </p:txBody>
        </p:sp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B1487148-B54C-95E6-1E87-59862727E9D0}"/>
                </a:ext>
              </a:extLst>
            </p:cNvPr>
            <p:cNvSpPr/>
            <p:nvPr/>
          </p:nvSpPr>
          <p:spPr>
            <a:xfrm>
              <a:off x="784054" y="4670942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latin typeface="AppleMyungjo" pitchFamily="2" charset="-127"/>
                  <a:ea typeface="AppleMyungjo" pitchFamily="2" charset="-127"/>
                </a:rPr>
                <a:t>imp-</a:t>
              </a:r>
              <a:r>
                <a:rPr kumimoji="1" lang="en-US" altLang="ko-KR" sz="1600" dirty="0" err="1">
                  <a:latin typeface="AppleMyungjo" pitchFamily="2" charset="-127"/>
                  <a:ea typeface="AppleMyungjo" pitchFamily="2" charset="-127"/>
                </a:rPr>
                <a:t>examples.maude</a:t>
              </a:r>
              <a:endParaRPr kumimoji="1" lang="ko-KR" altLang="en-US" sz="1600" dirty="0">
                <a:latin typeface="AppleMyungjo" pitchFamily="2" charset="-127"/>
                <a:ea typeface="AppleMyungjo" pitchFamily="2" charset="-127"/>
              </a:endParaRPr>
            </a:p>
          </p:txBody>
        </p:sp>
        <p:cxnSp>
          <p:nvCxnSpPr>
            <p:cNvPr id="12" name="꺾인 연결선[E] 11">
              <a:extLst>
                <a:ext uri="{FF2B5EF4-FFF2-40B4-BE49-F238E27FC236}">
                  <a16:creationId xmlns:a16="http://schemas.microsoft.com/office/drawing/2014/main" id="{FD42C5D5-0E72-9AE1-201B-E1294BA9D2B2}"/>
                </a:ext>
              </a:extLst>
            </p:cNvPr>
            <p:cNvCxnSpPr>
              <a:stCxn id="7" idx="2"/>
              <a:endCxn id="10" idx="0"/>
            </p:cNvCxnSpPr>
            <p:nvPr/>
          </p:nvCxnSpPr>
          <p:spPr>
            <a:xfrm rot="16200000" flipH="1">
              <a:off x="1501824" y="4205955"/>
              <a:ext cx="274976" cy="65499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8F1E2CBA-5094-3AAA-4BEC-CB901312C69D}"/>
                </a:ext>
              </a:extLst>
            </p:cNvPr>
            <p:cNvCxnSpPr>
              <a:stCxn id="10" idx="3"/>
              <a:endCxn id="6" idx="1"/>
            </p:cNvCxnSpPr>
            <p:nvPr/>
          </p:nvCxnSpPr>
          <p:spPr>
            <a:xfrm>
              <a:off x="3149567" y="4974086"/>
              <a:ext cx="38728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꺾인 연결선[E] 15">
              <a:extLst>
                <a:ext uri="{FF2B5EF4-FFF2-40B4-BE49-F238E27FC236}">
                  <a16:creationId xmlns:a16="http://schemas.microsoft.com/office/drawing/2014/main" id="{9F21D70B-62C2-FF9F-16B3-9D2D0C07D97A}"/>
                </a:ext>
              </a:extLst>
            </p:cNvPr>
            <p:cNvCxnSpPr>
              <a:stCxn id="9" idx="2"/>
              <a:endCxn id="6" idx="0"/>
            </p:cNvCxnSpPr>
            <p:nvPr/>
          </p:nvCxnSpPr>
          <p:spPr>
            <a:xfrm rot="16200000" flipH="1">
              <a:off x="4109658" y="4060997"/>
              <a:ext cx="274978" cy="94491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꺾인 연결선[E] 17">
              <a:extLst>
                <a:ext uri="{FF2B5EF4-FFF2-40B4-BE49-F238E27FC236}">
                  <a16:creationId xmlns:a16="http://schemas.microsoft.com/office/drawing/2014/main" id="{90EBDC93-70BD-3397-39D4-EB61E80AE629}"/>
                </a:ext>
              </a:extLst>
            </p:cNvPr>
            <p:cNvCxnSpPr>
              <a:stCxn id="8" idx="2"/>
              <a:endCxn id="6" idx="0"/>
            </p:cNvCxnSpPr>
            <p:nvPr/>
          </p:nvCxnSpPr>
          <p:spPr>
            <a:xfrm rot="5400000">
              <a:off x="5367134" y="3748435"/>
              <a:ext cx="274979" cy="1570037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꺾인 연결선[E] 19">
              <a:extLst>
                <a:ext uri="{FF2B5EF4-FFF2-40B4-BE49-F238E27FC236}">
                  <a16:creationId xmlns:a16="http://schemas.microsoft.com/office/drawing/2014/main" id="{11C2A971-1ACF-244D-5ADE-D3798507E735}"/>
                </a:ext>
              </a:extLst>
            </p:cNvPr>
            <p:cNvCxnSpPr>
              <a:stCxn id="8" idx="2"/>
              <a:endCxn id="5" idx="0"/>
            </p:cNvCxnSpPr>
            <p:nvPr/>
          </p:nvCxnSpPr>
          <p:spPr>
            <a:xfrm rot="16200000" flipH="1">
              <a:off x="6743530" y="3942075"/>
              <a:ext cx="274978" cy="118275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꺾인 연결선[E] 21">
              <a:extLst>
                <a:ext uri="{FF2B5EF4-FFF2-40B4-BE49-F238E27FC236}">
                  <a16:creationId xmlns:a16="http://schemas.microsoft.com/office/drawing/2014/main" id="{1E9860CD-CFB8-C59A-3D3A-7D0C788223F3}"/>
                </a:ext>
              </a:extLst>
            </p:cNvPr>
            <p:cNvCxnSpPr>
              <a:stCxn id="6" idx="2"/>
              <a:endCxn id="4" idx="0"/>
            </p:cNvCxnSpPr>
            <p:nvPr/>
          </p:nvCxnSpPr>
          <p:spPr>
            <a:xfrm rot="16200000" flipH="1">
              <a:off x="5270312" y="4726522"/>
              <a:ext cx="274980" cy="137639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꺾인 연결선[E] 23">
              <a:extLst>
                <a:ext uri="{FF2B5EF4-FFF2-40B4-BE49-F238E27FC236}">
                  <a16:creationId xmlns:a16="http://schemas.microsoft.com/office/drawing/2014/main" id="{1544409E-06B0-F966-3969-93F77E109EBD}"/>
                </a:ext>
              </a:extLst>
            </p:cNvPr>
            <p:cNvCxnSpPr>
              <a:stCxn id="5" idx="2"/>
              <a:endCxn id="4" idx="0"/>
            </p:cNvCxnSpPr>
            <p:nvPr/>
          </p:nvCxnSpPr>
          <p:spPr>
            <a:xfrm rot="5400000">
              <a:off x="6646709" y="4726521"/>
              <a:ext cx="274981" cy="1376397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5DEC6F6-31B5-A8C1-43D8-B3AAFCDA6016}"/>
              </a:ext>
            </a:extLst>
          </p:cNvPr>
          <p:cNvSpPr txBox="1"/>
          <p:nvPr/>
        </p:nvSpPr>
        <p:spPr>
          <a:xfrm>
            <a:off x="233636" y="4343567"/>
            <a:ext cx="114348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l">
              <a:buAutoNum type="arabicPeriod"/>
            </a:pPr>
            <a:r>
              <a:rPr lang="en" altLang="ko-KR" b="0" i="0" dirty="0">
                <a:solidFill>
                  <a:srgbClr val="0F0F10"/>
                </a:solidFill>
                <a:effectLst/>
                <a:latin typeface="AppleMyungjo" pitchFamily="2" charset="-127"/>
                <a:ea typeface="AppleMyungjo" pitchFamily="2" charset="-127"/>
              </a:rPr>
              <a:t>syntax</a:t>
            </a:r>
            <a:r>
              <a:rPr lang="en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, </a:t>
            </a:r>
            <a:r>
              <a:rPr lang="en" altLang="ko-KR" b="0" i="0" dirty="0">
                <a:solidFill>
                  <a:srgbClr val="0F0F10"/>
                </a:solidFill>
                <a:effectLst/>
                <a:latin typeface="AppleMyungjo" pitchFamily="2" charset="-127"/>
                <a:ea typeface="AppleMyungjo" pitchFamily="2" charset="-127"/>
              </a:rPr>
              <a:t>prelude</a:t>
            </a:r>
            <a:r>
              <a:rPr lang="en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, </a:t>
            </a:r>
            <a:r>
              <a:rPr lang="en" altLang="ko-KR" b="0" i="0" dirty="0">
                <a:solidFill>
                  <a:srgbClr val="0F0F10"/>
                </a:solidFill>
                <a:effectLst/>
                <a:latin typeface="AppleMyungjo" pitchFamily="2" charset="-127"/>
                <a:ea typeface="AppleMyungjo" pitchFamily="2" charset="-127"/>
              </a:rPr>
              <a:t>strictness</a:t>
            </a:r>
            <a:r>
              <a:rPr lang="en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 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파일들이 </a:t>
            </a:r>
            <a:r>
              <a:rPr lang="ko-KR" altLang="en-US" b="1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문법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과 </a:t>
            </a:r>
            <a:r>
              <a:rPr lang="en-US" altLang="ko-KR" b="1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heating/cooling rules</a:t>
            </a:r>
            <a:r>
              <a:rPr lang="en-US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, </a:t>
            </a:r>
            <a:r>
              <a:rPr lang="en" altLang="ko-KR" b="1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K </a:t>
            </a:r>
            <a:r>
              <a:rPr lang="ko-KR" altLang="en-US" b="1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프레임워크의 기초 구조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를 </a:t>
            </a:r>
            <a:br>
              <a:rPr lang="en-US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</a:b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정의함</a:t>
            </a:r>
            <a:r>
              <a:rPr lang="en-US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.</a:t>
            </a:r>
          </a:p>
          <a:p>
            <a:pPr marL="800100" lvl="1" indent="-342900" algn="l">
              <a:buAutoNum type="arabicPeriod"/>
            </a:pP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위의 정의들을 바탕으로 </a:t>
            </a:r>
            <a:r>
              <a:rPr lang="en" altLang="ko-KR" b="0" i="0" dirty="0">
                <a:solidFill>
                  <a:srgbClr val="0F0F10"/>
                </a:solidFill>
                <a:effectLst/>
                <a:latin typeface="AppleMyungjo" pitchFamily="2" charset="-127"/>
                <a:ea typeface="AppleMyungjo" pitchFamily="2" charset="-127"/>
              </a:rPr>
              <a:t>imp-semantics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가</a:t>
            </a:r>
            <a:r>
              <a:rPr lang="en-US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 </a:t>
            </a:r>
            <a:r>
              <a:rPr lang="en" altLang="ko-KR" b="1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K Rules</a:t>
            </a:r>
            <a:r>
              <a:rPr lang="ko-KR" altLang="en-US" dirty="0" err="1">
                <a:solidFill>
                  <a:srgbClr val="1A1C1E"/>
                </a:solidFill>
                <a:latin typeface="AppleMyungjo" pitchFamily="2" charset="-127"/>
                <a:ea typeface="AppleMyungjo" pitchFamily="2" charset="-127"/>
              </a:rPr>
              <a:t>를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 구현하고</a:t>
            </a:r>
            <a:r>
              <a:rPr lang="en-US" altLang="ko-KR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, </a:t>
            </a:r>
            <a:r>
              <a:rPr lang="en" altLang="ko-KR" b="0" i="0" dirty="0">
                <a:solidFill>
                  <a:srgbClr val="0F0F10"/>
                </a:solidFill>
                <a:effectLst/>
                <a:latin typeface="AppleMyungjo" pitchFamily="2" charset="-127"/>
                <a:ea typeface="AppleMyungjo" pitchFamily="2" charset="-127"/>
              </a:rPr>
              <a:t>model-checker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가 검증 도구를 준비함</a:t>
            </a:r>
            <a:r>
              <a:rPr lang="en-US" altLang="ko-KR" dirty="0">
                <a:solidFill>
                  <a:srgbClr val="1A1C1E"/>
                </a:solidFill>
                <a:latin typeface="AppleMyungjo" pitchFamily="2" charset="-127"/>
                <a:ea typeface="AppleMyungjo" pitchFamily="2" charset="-127"/>
              </a:rPr>
              <a:t>.</a:t>
            </a:r>
            <a:endParaRPr lang="en-US" altLang="ko-KR" b="0" i="0" dirty="0">
              <a:solidFill>
                <a:srgbClr val="1A1C1E"/>
              </a:solidFill>
              <a:effectLst/>
              <a:latin typeface="AppleMyungjo" pitchFamily="2" charset="-127"/>
              <a:ea typeface="AppleMyungjo" pitchFamily="2" charset="-127"/>
            </a:endParaRPr>
          </a:p>
          <a:p>
            <a:pPr marL="800100" lvl="1" indent="-342900" algn="l">
              <a:buAutoNum type="arabicPeriod"/>
            </a:pP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마지막으로 </a:t>
            </a:r>
            <a:r>
              <a:rPr lang="en" altLang="ko-KR" b="0" i="0" dirty="0">
                <a:solidFill>
                  <a:srgbClr val="0F0F10"/>
                </a:solidFill>
                <a:effectLst/>
                <a:latin typeface="AppleMyungjo" pitchFamily="2" charset="-127"/>
                <a:ea typeface="AppleMyungjo" pitchFamily="2" charset="-127"/>
              </a:rPr>
              <a:t>problem6.maude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가 이 의미론과 모델 </a:t>
            </a:r>
            <a:r>
              <a:rPr lang="ko-KR" altLang="en-US" b="0" i="0" dirty="0" err="1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체커를</a:t>
            </a:r>
            <a:r>
              <a:rPr lang="ko-KR" altLang="en-US" b="0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 모두 </a:t>
            </a:r>
            <a:r>
              <a:rPr lang="ko-KR" altLang="en-US" b="0" i="0" dirty="0" err="1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로드하여</a:t>
            </a:r>
            <a:r>
              <a:rPr lang="ko-KR" altLang="en-US" dirty="0">
                <a:solidFill>
                  <a:srgbClr val="1A1C1E"/>
                </a:solidFill>
                <a:latin typeface="AppleMyungjo" pitchFamily="2" charset="-127"/>
                <a:ea typeface="AppleMyungjo" pitchFamily="2" charset="-127"/>
              </a:rPr>
              <a:t> </a:t>
            </a:r>
            <a:r>
              <a:rPr lang="ko-KR" altLang="en-US" b="1" i="0" dirty="0">
                <a:solidFill>
                  <a:srgbClr val="1A1C1E"/>
                </a:solidFill>
                <a:effectLst/>
                <a:latin typeface="AppleMyungjo" pitchFamily="2" charset="-127"/>
                <a:ea typeface="AppleMyungjo" pitchFamily="2" charset="-127"/>
              </a:rPr>
              <a:t>검증</a:t>
            </a:r>
            <a:r>
              <a:rPr lang="ko-KR" altLang="en-US" dirty="0">
                <a:solidFill>
                  <a:srgbClr val="1A1C1E"/>
                </a:solidFill>
                <a:latin typeface="AppleMyungjo" pitchFamily="2" charset="-127"/>
                <a:ea typeface="AppleMyungjo" pitchFamily="2" charset="-127"/>
              </a:rPr>
              <a:t>함</a:t>
            </a:r>
            <a:r>
              <a:rPr lang="en-US" altLang="ko-KR" dirty="0">
                <a:solidFill>
                  <a:srgbClr val="1A1C1E"/>
                </a:solidFill>
                <a:latin typeface="AppleMyungjo" pitchFamily="2" charset="-127"/>
                <a:ea typeface="AppleMyungjo" pitchFamily="2" charset="-127"/>
              </a:rPr>
              <a:t>.</a:t>
            </a:r>
            <a:endParaRPr lang="en-US" altLang="ko-KR" b="0" i="0" dirty="0">
              <a:solidFill>
                <a:srgbClr val="1A1C1E"/>
              </a:solidFill>
              <a:effectLst/>
              <a:latin typeface="AppleMyungjo" pitchFamily="2" charset="-127"/>
              <a:ea typeface="AppleMyungjo" pitchFamily="2" charset="-127"/>
            </a:endParaRPr>
          </a:p>
          <a:p>
            <a:br>
              <a:rPr lang="ko-KR" altLang="en-US" dirty="0">
                <a:latin typeface="AppleMyungjo" pitchFamily="2" charset="-127"/>
                <a:ea typeface="AppleMyungjo" pitchFamily="2" charset="-127"/>
              </a:rPr>
            </a:br>
            <a:endParaRPr lang="ko-KR" altLang="en-US" dirty="0">
              <a:latin typeface="AppleMyungjo" pitchFamily="2" charset="-127"/>
              <a:ea typeface="AppleMyungjo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F1D849-F874-EB7B-2C7B-66F241EE0639}"/>
              </a:ext>
            </a:extLst>
          </p:cNvPr>
          <p:cNvSpPr txBox="1"/>
          <p:nvPr/>
        </p:nvSpPr>
        <p:spPr>
          <a:xfrm>
            <a:off x="49406" y="56228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Problem</a:t>
            </a:r>
            <a:r>
              <a:rPr kumimoji="1" lang="ko-KR" altLang="en-US" dirty="0">
                <a:latin typeface="AppleMyungjo" pitchFamily="2" charset="-127"/>
                <a:ea typeface="AppleMyungjo" pitchFamily="2" charset="-127"/>
              </a:rPr>
              <a:t> </a:t>
            </a:r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6</a:t>
            </a:r>
            <a:r>
              <a:rPr kumimoji="1" lang="ko-KR" altLang="en-US" dirty="0">
                <a:latin typeface="AppleMyungjo" pitchFamily="2" charset="-127"/>
                <a:ea typeface="AppleMyungjo" pitchFamily="2" charset="-127"/>
              </a:rPr>
              <a:t> 관계 정리</a:t>
            </a:r>
          </a:p>
        </p:txBody>
      </p:sp>
    </p:spTree>
    <p:extLst>
      <p:ext uri="{BB962C8B-B14F-4D97-AF65-F5344CB8AC3E}">
        <p14:creationId xmlns:p14="http://schemas.microsoft.com/office/powerpoint/2010/main" val="290557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42B6-B6FB-5667-966C-1A4CC6D0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1CCB6CCF-4B28-1C2B-4E5C-451C9D3D1DD8}"/>
              </a:ext>
            </a:extLst>
          </p:cNvPr>
          <p:cNvSpPr txBox="1"/>
          <p:nvPr/>
        </p:nvSpPr>
        <p:spPr>
          <a:xfrm>
            <a:off x="49406" y="56228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Problem</a:t>
            </a:r>
            <a:r>
              <a:rPr kumimoji="1" lang="ko-KR" altLang="en-US" dirty="0">
                <a:latin typeface="AppleMyungjo" pitchFamily="2" charset="-127"/>
                <a:ea typeface="AppleMyungjo" pitchFamily="2" charset="-127"/>
              </a:rPr>
              <a:t> </a:t>
            </a:r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7</a:t>
            </a:r>
            <a:r>
              <a:rPr kumimoji="1" lang="ko-KR" altLang="en-US" dirty="0">
                <a:latin typeface="AppleMyungjo" pitchFamily="2" charset="-127"/>
                <a:ea typeface="AppleMyungjo" pitchFamily="2" charset="-127"/>
              </a:rPr>
              <a:t> 관계 정리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389FE3D-BB32-A106-41A4-F8DFBA724E18}"/>
              </a:ext>
            </a:extLst>
          </p:cNvPr>
          <p:cNvGrpSpPr/>
          <p:nvPr/>
        </p:nvGrpSpPr>
        <p:grpSpPr>
          <a:xfrm>
            <a:off x="1186253" y="1451254"/>
            <a:ext cx="9819493" cy="2435423"/>
            <a:chOff x="1186253" y="1599864"/>
            <a:chExt cx="9819493" cy="2435423"/>
          </a:xfrm>
        </p:grpSpPr>
        <p:sp>
          <p:nvSpPr>
            <p:cNvPr id="2" name="모서리가 둥근 직사각형 1">
              <a:extLst>
                <a:ext uri="{FF2B5EF4-FFF2-40B4-BE49-F238E27FC236}">
                  <a16:creationId xmlns:a16="http://schemas.microsoft.com/office/drawing/2014/main" id="{9ABE7925-0215-AE3D-9886-124AA9FEACCF}"/>
                </a:ext>
              </a:extLst>
            </p:cNvPr>
            <p:cNvSpPr/>
            <p:nvPr/>
          </p:nvSpPr>
          <p:spPr>
            <a:xfrm>
              <a:off x="4913243" y="3429000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atin typeface="AppleMyungjo" pitchFamily="2" charset="-127"/>
                  <a:ea typeface="AppleMyungjo" pitchFamily="2" charset="-127"/>
                </a:rPr>
                <a:t>problem7.maude</a:t>
              </a:r>
              <a:endParaRPr kumimoji="1" lang="ko-KR" altLang="en-US" dirty="0">
                <a:latin typeface="AppleMyungjo" pitchFamily="2" charset="-127"/>
                <a:ea typeface="AppleMyungjo" pitchFamily="2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E6DD09F-B79E-4EB9-9EC2-7EFAD911D995}"/>
                </a:ext>
              </a:extLst>
            </p:cNvPr>
            <p:cNvGrpSpPr/>
            <p:nvPr/>
          </p:nvGrpSpPr>
          <p:grpSpPr>
            <a:xfrm>
              <a:off x="1186253" y="2514431"/>
              <a:ext cx="9819493" cy="606289"/>
              <a:chOff x="1235068" y="2514432"/>
              <a:chExt cx="9819493" cy="606289"/>
            </a:xfrm>
          </p:grpSpPr>
          <p:sp>
            <p:nvSpPr>
              <p:cNvPr id="3" name="모서리가 둥근 직사각형 2">
                <a:extLst>
                  <a:ext uri="{FF2B5EF4-FFF2-40B4-BE49-F238E27FC236}">
                    <a16:creationId xmlns:a16="http://schemas.microsoft.com/office/drawing/2014/main" id="{F862B62B-43BE-5A91-DA16-D95919329FBA}"/>
                  </a:ext>
                </a:extLst>
              </p:cNvPr>
              <p:cNvSpPr/>
              <p:nvPr/>
            </p:nvSpPr>
            <p:spPr>
              <a:xfrm>
                <a:off x="1235068" y="2514434"/>
                <a:ext cx="2365513" cy="60628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600" dirty="0">
                    <a:latin typeface="AppleMyungjo" pitchFamily="2" charset="-127"/>
                    <a:ea typeface="AppleMyungjo" pitchFamily="2" charset="-127"/>
                  </a:rPr>
                  <a:t>imp#-</a:t>
                </a:r>
                <a:r>
                  <a:rPr kumimoji="1" lang="en-US" altLang="ko-KR" sz="1600" dirty="0" err="1">
                    <a:latin typeface="AppleMyungjo" pitchFamily="2" charset="-127"/>
                    <a:ea typeface="AppleMyungjo" pitchFamily="2" charset="-127"/>
                  </a:rPr>
                  <a:t>examples.maude</a:t>
                </a:r>
                <a:endParaRPr kumimoji="1" lang="ko-KR" altLang="en-US" sz="1600" dirty="0">
                  <a:latin typeface="AppleMyungjo" pitchFamily="2" charset="-127"/>
                  <a:ea typeface="AppleMyungjo" pitchFamily="2" charset="-127"/>
                </a:endParaRPr>
              </a:p>
            </p:txBody>
          </p:sp>
          <p:sp>
            <p:nvSpPr>
              <p:cNvPr id="11" name="모서리가 둥근 직사각형 10">
                <a:extLst>
                  <a:ext uri="{FF2B5EF4-FFF2-40B4-BE49-F238E27FC236}">
                    <a16:creationId xmlns:a16="http://schemas.microsoft.com/office/drawing/2014/main" id="{53A312E6-F7F6-EA3B-5589-FC2782B9E932}"/>
                  </a:ext>
                </a:extLst>
              </p:cNvPr>
              <p:cNvSpPr/>
              <p:nvPr/>
            </p:nvSpPr>
            <p:spPr>
              <a:xfrm>
                <a:off x="3719728" y="2514433"/>
                <a:ext cx="2365513" cy="60628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>
                    <a:latin typeface="AppleMyungjo" pitchFamily="2" charset="-127"/>
                    <a:ea typeface="AppleMyungjo" pitchFamily="2" charset="-127"/>
                  </a:rPr>
                  <a:t>imp#-</a:t>
                </a:r>
                <a:r>
                  <a:rPr kumimoji="1" lang="en-US" altLang="ko-KR" dirty="0" err="1">
                    <a:latin typeface="AppleMyungjo" pitchFamily="2" charset="-127"/>
                    <a:ea typeface="AppleMyungjo" pitchFamily="2" charset="-127"/>
                  </a:rPr>
                  <a:t>syntax.maude</a:t>
                </a:r>
                <a:endParaRPr kumimoji="1" lang="ko-KR" altLang="en-US" dirty="0">
                  <a:latin typeface="AppleMyungjo" pitchFamily="2" charset="-127"/>
                  <a:ea typeface="AppleMyungjo" pitchFamily="2" charset="-127"/>
                </a:endParaRPr>
              </a:p>
            </p:txBody>
          </p:sp>
          <p:sp>
            <p:nvSpPr>
              <p:cNvPr id="13" name="모서리가 둥근 직사각형 12">
                <a:extLst>
                  <a:ext uri="{FF2B5EF4-FFF2-40B4-BE49-F238E27FC236}">
                    <a16:creationId xmlns:a16="http://schemas.microsoft.com/office/drawing/2014/main" id="{ED552292-9469-A311-AF3E-F7D2F2D4811A}"/>
                  </a:ext>
                </a:extLst>
              </p:cNvPr>
              <p:cNvSpPr/>
              <p:nvPr/>
            </p:nvSpPr>
            <p:spPr>
              <a:xfrm>
                <a:off x="6204388" y="2514433"/>
                <a:ext cx="2365513" cy="60628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600" dirty="0">
                    <a:latin typeface="AppleMyungjo" pitchFamily="2" charset="-127"/>
                    <a:ea typeface="AppleMyungjo" pitchFamily="2" charset="-127"/>
                  </a:rPr>
                  <a:t>imp#-</a:t>
                </a:r>
                <a:r>
                  <a:rPr kumimoji="1" lang="en-US" altLang="ko-KR" sz="1600" dirty="0" err="1">
                    <a:latin typeface="AppleMyungjo" pitchFamily="2" charset="-127"/>
                    <a:ea typeface="AppleMyungjo" pitchFamily="2" charset="-127"/>
                  </a:rPr>
                  <a:t>strictness.maude</a:t>
                </a:r>
                <a:endParaRPr kumimoji="1" lang="ko-KR" altLang="en-US" sz="1600" dirty="0">
                  <a:latin typeface="AppleMyungjo" pitchFamily="2" charset="-127"/>
                  <a:ea typeface="AppleMyungjo" pitchFamily="2" charset="-127"/>
                </a:endParaRPr>
              </a:p>
            </p:txBody>
          </p:sp>
          <p:sp>
            <p:nvSpPr>
              <p:cNvPr id="15" name="모서리가 둥근 직사각형 14">
                <a:extLst>
                  <a:ext uri="{FF2B5EF4-FFF2-40B4-BE49-F238E27FC236}">
                    <a16:creationId xmlns:a16="http://schemas.microsoft.com/office/drawing/2014/main" id="{5C722589-FD3B-DE3D-F436-F855FAA304B3}"/>
                  </a:ext>
                </a:extLst>
              </p:cNvPr>
              <p:cNvSpPr/>
              <p:nvPr/>
            </p:nvSpPr>
            <p:spPr>
              <a:xfrm>
                <a:off x="8689048" y="2514432"/>
                <a:ext cx="2365513" cy="60628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600" dirty="0">
                    <a:latin typeface="AppleMyungjo" pitchFamily="2" charset="-127"/>
                    <a:ea typeface="AppleMyungjo" pitchFamily="2" charset="-127"/>
                  </a:rPr>
                  <a:t>imp-</a:t>
                </a:r>
                <a:r>
                  <a:rPr kumimoji="1" lang="en-US" altLang="ko-KR" sz="1600" dirty="0" err="1">
                    <a:latin typeface="AppleMyungjo" pitchFamily="2" charset="-127"/>
                    <a:ea typeface="AppleMyungjo" pitchFamily="2" charset="-127"/>
                  </a:rPr>
                  <a:t>semantics.maude</a:t>
                </a:r>
                <a:endParaRPr kumimoji="1" lang="ko-KR" altLang="en-US" sz="1600" dirty="0">
                  <a:latin typeface="AppleMyungjo" pitchFamily="2" charset="-127"/>
                  <a:ea typeface="AppleMyungjo" pitchFamily="2" charset="-127"/>
                </a:endParaRPr>
              </a:p>
            </p:txBody>
          </p:sp>
        </p:grp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9246EDFA-20CE-AA23-A7DE-7A941FE9669F}"/>
                </a:ext>
              </a:extLst>
            </p:cNvPr>
            <p:cNvSpPr/>
            <p:nvPr/>
          </p:nvSpPr>
          <p:spPr>
            <a:xfrm>
              <a:off x="3670912" y="1599864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atin typeface="AppleMyungjo" pitchFamily="2" charset="-127"/>
                  <a:ea typeface="AppleMyungjo" pitchFamily="2" charset="-127"/>
                </a:rPr>
                <a:t>imp-</a:t>
              </a:r>
              <a:r>
                <a:rPr kumimoji="1" lang="en-US" altLang="ko-KR" dirty="0" err="1">
                  <a:latin typeface="AppleMyungjo" pitchFamily="2" charset="-127"/>
                  <a:ea typeface="AppleMyungjo" pitchFamily="2" charset="-127"/>
                </a:rPr>
                <a:t>syntax.maude</a:t>
              </a:r>
              <a:endParaRPr kumimoji="1" lang="ko-KR" altLang="en-US" dirty="0">
                <a:latin typeface="AppleMyungjo" pitchFamily="2" charset="-127"/>
                <a:ea typeface="AppleMyungjo" pitchFamily="2" charset="-127"/>
              </a:endParaRPr>
            </a:p>
          </p:txBody>
        </p:sp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4E10F1B2-2C7A-307A-CF51-254DD7C8230A}"/>
                </a:ext>
              </a:extLst>
            </p:cNvPr>
            <p:cNvSpPr/>
            <p:nvPr/>
          </p:nvSpPr>
          <p:spPr>
            <a:xfrm>
              <a:off x="6155573" y="1599864"/>
              <a:ext cx="2365513" cy="60628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latin typeface="AppleMyungjo" pitchFamily="2" charset="-127"/>
                  <a:ea typeface="AppleMyungjo" pitchFamily="2" charset="-127"/>
                </a:rPr>
                <a:t>imp-</a:t>
              </a:r>
              <a:r>
                <a:rPr kumimoji="1" lang="en-US" altLang="ko-KR" sz="1600" dirty="0" err="1">
                  <a:latin typeface="AppleMyungjo" pitchFamily="2" charset="-127"/>
                  <a:ea typeface="AppleMyungjo" pitchFamily="2" charset="-127"/>
                </a:rPr>
                <a:t>strictness.maude</a:t>
              </a:r>
              <a:endParaRPr kumimoji="1" lang="ko-KR" altLang="en-US" sz="1600" dirty="0">
                <a:latin typeface="AppleMyungjo" pitchFamily="2" charset="-127"/>
                <a:ea typeface="AppleMyungjo" pitchFamily="2" charset="-127"/>
              </a:endParaRPr>
            </a:p>
          </p:txBody>
        </p:sp>
        <p:cxnSp>
          <p:nvCxnSpPr>
            <p:cNvPr id="29" name="꺾인 연결선[E] 28">
              <a:extLst>
                <a:ext uri="{FF2B5EF4-FFF2-40B4-BE49-F238E27FC236}">
                  <a16:creationId xmlns:a16="http://schemas.microsoft.com/office/drawing/2014/main" id="{FCEF75E3-EE40-96EA-3A78-EFE13F11C40D}"/>
                </a:ext>
              </a:extLst>
            </p:cNvPr>
            <p:cNvCxnSpPr>
              <a:stCxn id="11" idx="2"/>
              <a:endCxn id="2" idx="0"/>
            </p:cNvCxnSpPr>
            <p:nvPr/>
          </p:nvCxnSpPr>
          <p:spPr>
            <a:xfrm rot="16200000" flipH="1">
              <a:off x="5320695" y="2653694"/>
              <a:ext cx="308281" cy="12423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1" name="꺾인 연결선[E] 30">
              <a:extLst>
                <a:ext uri="{FF2B5EF4-FFF2-40B4-BE49-F238E27FC236}">
                  <a16:creationId xmlns:a16="http://schemas.microsoft.com/office/drawing/2014/main" id="{8BD44AB3-A38E-0A41-556F-942D92ACC123}"/>
                </a:ext>
              </a:extLst>
            </p:cNvPr>
            <p:cNvCxnSpPr>
              <a:stCxn id="13" idx="2"/>
              <a:endCxn id="2" idx="0"/>
            </p:cNvCxnSpPr>
            <p:nvPr/>
          </p:nvCxnSpPr>
          <p:spPr>
            <a:xfrm rot="5400000">
              <a:off x="6563025" y="2653694"/>
              <a:ext cx="308281" cy="12423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3" name="꺾인 연결선[E] 32">
              <a:extLst>
                <a:ext uri="{FF2B5EF4-FFF2-40B4-BE49-F238E27FC236}">
                  <a16:creationId xmlns:a16="http://schemas.microsoft.com/office/drawing/2014/main" id="{872AA9CB-4014-0F53-333D-2463D3D475F2}"/>
                </a:ext>
              </a:extLst>
            </p:cNvPr>
            <p:cNvCxnSpPr>
              <a:stCxn id="3" idx="2"/>
              <a:endCxn id="2" idx="0"/>
            </p:cNvCxnSpPr>
            <p:nvPr/>
          </p:nvCxnSpPr>
          <p:spPr>
            <a:xfrm rot="16200000" flipH="1">
              <a:off x="4078365" y="1411365"/>
              <a:ext cx="308280" cy="372699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5" name="꺾인 연결선[E] 34">
              <a:extLst>
                <a:ext uri="{FF2B5EF4-FFF2-40B4-BE49-F238E27FC236}">
                  <a16:creationId xmlns:a16="http://schemas.microsoft.com/office/drawing/2014/main" id="{376168FF-3ED9-509D-1BCB-E76593185151}"/>
                </a:ext>
              </a:extLst>
            </p:cNvPr>
            <p:cNvCxnSpPr>
              <a:stCxn id="15" idx="2"/>
              <a:endCxn id="2" idx="0"/>
            </p:cNvCxnSpPr>
            <p:nvPr/>
          </p:nvCxnSpPr>
          <p:spPr>
            <a:xfrm rot="5400000">
              <a:off x="7805354" y="1411364"/>
              <a:ext cx="308282" cy="372699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7" name="꺾인 연결선[E] 36">
              <a:extLst>
                <a:ext uri="{FF2B5EF4-FFF2-40B4-BE49-F238E27FC236}">
                  <a16:creationId xmlns:a16="http://schemas.microsoft.com/office/drawing/2014/main" id="{0FFCE9B1-60FB-93AA-DD0C-3E6F27B83AE1}"/>
                </a:ext>
              </a:extLst>
            </p:cNvPr>
            <p:cNvCxnSpPr>
              <a:stCxn id="19" idx="2"/>
              <a:endCxn id="11" idx="0"/>
            </p:cNvCxnSpPr>
            <p:nvPr/>
          </p:nvCxnSpPr>
          <p:spPr>
            <a:xfrm rot="16200000" flipH="1">
              <a:off x="4699529" y="2360290"/>
              <a:ext cx="308281" cy="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005A02F2-4C74-9C28-8A6B-D09F07904FDB}"/>
                </a:ext>
              </a:extLst>
            </p:cNvPr>
            <p:cNvCxnSpPr>
              <a:stCxn id="21" idx="2"/>
              <a:endCxn id="13" idx="0"/>
            </p:cNvCxnSpPr>
            <p:nvPr/>
          </p:nvCxnSpPr>
          <p:spPr>
            <a:xfrm>
              <a:off x="7338330" y="2206151"/>
              <a:ext cx="0" cy="3082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62426AD-104C-42D3-970F-1993C1317C8B}"/>
              </a:ext>
            </a:extLst>
          </p:cNvPr>
          <p:cNvSpPr txBox="1"/>
          <p:nvPr/>
        </p:nvSpPr>
        <p:spPr>
          <a:xfrm>
            <a:off x="-209092" y="4483416"/>
            <a:ext cx="12729329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00100" lvl="1" indent="-342900" algn="l">
              <a:buAutoNum type="arabicPeriod"/>
            </a:pPr>
            <a:r>
              <a:rPr lang="en-US" altLang="ko-KR" dirty="0">
                <a:latin typeface="AppleMyungjo" pitchFamily="2" charset="-127"/>
                <a:ea typeface="AppleMyungjo" pitchFamily="2" charset="-127"/>
              </a:rPr>
              <a:t>imp#-syntax</a:t>
            </a: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와 </a:t>
            </a:r>
            <a:r>
              <a:rPr lang="en-US" altLang="ko-KR" dirty="0">
                <a:latin typeface="AppleMyungjo" pitchFamily="2" charset="-127"/>
                <a:ea typeface="AppleMyungjo" pitchFamily="2" charset="-127"/>
              </a:rPr>
              <a:t>imp#-strictness</a:t>
            </a: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가 기존 </a:t>
            </a:r>
            <a:r>
              <a:rPr lang="en-US" altLang="ko-KR" dirty="0">
                <a:latin typeface="AppleMyungjo" pitchFamily="2" charset="-127"/>
                <a:ea typeface="AppleMyungjo" pitchFamily="2" charset="-127"/>
              </a:rPr>
              <a:t>IMP </a:t>
            </a: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정의를 상속받아 배열</a:t>
            </a:r>
            <a:r>
              <a:rPr lang="en-US" altLang="ko-KR" dirty="0">
                <a:latin typeface="AppleMyungjo" pitchFamily="2" charset="-127"/>
                <a:ea typeface="AppleMyungjo" pitchFamily="2" charset="-127"/>
              </a:rPr>
              <a:t>, </a:t>
            </a: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함수 등의 문법을 확장</a:t>
            </a:r>
            <a:endParaRPr lang="en-US" altLang="ko-KR" dirty="0">
              <a:latin typeface="AppleMyungjo" pitchFamily="2" charset="-127"/>
              <a:ea typeface="AppleMyungjo" pitchFamily="2" charset="-127"/>
            </a:endParaRPr>
          </a:p>
          <a:p>
            <a:pPr marL="800100" lvl="1" indent="-342900" algn="l">
              <a:buAutoNum type="arabicPeriod"/>
            </a:pPr>
            <a:r>
              <a:rPr lang="en-US" altLang="ko-KR" dirty="0">
                <a:latin typeface="AppleMyungjo" pitchFamily="2" charset="-127"/>
                <a:ea typeface="AppleMyungjo" pitchFamily="2" charset="-127"/>
              </a:rPr>
              <a:t>imp-semantics</a:t>
            </a:r>
            <a:r>
              <a:rPr lang="ko-KR" altLang="en-US" dirty="0" err="1">
                <a:latin typeface="AppleMyungjo" pitchFamily="2" charset="-127"/>
                <a:ea typeface="AppleMyungjo" pitchFamily="2" charset="-127"/>
              </a:rPr>
              <a:t>를</a:t>
            </a: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 </a:t>
            </a:r>
            <a:r>
              <a:rPr lang="ko-KR" altLang="en-US" dirty="0" err="1">
                <a:latin typeface="AppleMyungjo" pitchFamily="2" charset="-127"/>
                <a:ea typeface="AppleMyungjo" pitchFamily="2" charset="-127"/>
              </a:rPr>
              <a:t>로드하여</a:t>
            </a: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 산술 연산 및 제어 흐름에 대한 기본 </a:t>
            </a:r>
            <a:r>
              <a:rPr lang="en-US" altLang="ko-KR" dirty="0">
                <a:latin typeface="AppleMyungjo" pitchFamily="2" charset="-127"/>
                <a:ea typeface="AppleMyungjo" pitchFamily="2" charset="-127"/>
              </a:rPr>
              <a:t>K Rules</a:t>
            </a:r>
            <a:r>
              <a:rPr lang="ko-KR" altLang="en-US" dirty="0" err="1">
                <a:latin typeface="AppleMyungjo" pitchFamily="2" charset="-127"/>
                <a:ea typeface="AppleMyungjo" pitchFamily="2" charset="-127"/>
              </a:rPr>
              <a:t>를</a:t>
            </a: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 그대로 재사용</a:t>
            </a:r>
            <a:endParaRPr lang="en-US" altLang="ko-KR" dirty="0">
              <a:latin typeface="AppleMyungjo" pitchFamily="2" charset="-127"/>
              <a:ea typeface="AppleMyungjo" pitchFamily="2" charset="-127"/>
            </a:endParaRPr>
          </a:p>
          <a:p>
            <a:pPr marL="800100" lvl="1" indent="-342900" algn="l">
              <a:buAutoNum type="arabicPeriod"/>
            </a:pP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마지막으로 </a:t>
            </a:r>
            <a:r>
              <a:rPr lang="en-US" altLang="ko-KR" dirty="0">
                <a:latin typeface="AppleMyungjo" pitchFamily="2" charset="-127"/>
                <a:ea typeface="AppleMyungjo" pitchFamily="2" charset="-127"/>
              </a:rPr>
              <a:t>problem7.maude</a:t>
            </a: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가 이를 통합하고</a:t>
            </a:r>
            <a:r>
              <a:rPr lang="en-US" altLang="ko-KR" dirty="0">
                <a:latin typeface="AppleMyungjo" pitchFamily="2" charset="-127"/>
                <a:ea typeface="AppleMyungjo" pitchFamily="2" charset="-127"/>
              </a:rPr>
              <a:t>, </a:t>
            </a:r>
            <a:r>
              <a:rPr lang="ko-KR" altLang="en-US" dirty="0">
                <a:latin typeface="AppleMyungjo" pitchFamily="2" charset="-127"/>
                <a:ea typeface="AppleMyungjo" pitchFamily="2" charset="-127"/>
              </a:rPr>
              <a:t>메모리와 호출 스택을 포함한 실행 환경을 정의하여 최종 구현</a:t>
            </a:r>
            <a:endParaRPr lang="en-US" altLang="ko-KR" dirty="0">
              <a:latin typeface="AppleMyungjo" pitchFamily="2" charset="-127"/>
              <a:ea typeface="AppleMyungjo" pitchFamily="2" charset="-127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9A536B4B-A2F6-4E2A-70B5-007ADF2113F9}"/>
              </a:ext>
            </a:extLst>
          </p:cNvPr>
          <p:cNvSpPr/>
          <p:nvPr/>
        </p:nvSpPr>
        <p:spPr>
          <a:xfrm>
            <a:off x="1186252" y="1451253"/>
            <a:ext cx="2365513" cy="6062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AppleMyungjo" pitchFamily="2" charset="-127"/>
                <a:ea typeface="AppleMyungjo" pitchFamily="2" charset="-127"/>
              </a:rPr>
              <a:t>imp-</a:t>
            </a:r>
            <a:r>
              <a:rPr kumimoji="1" lang="en-US" altLang="ko-KR" dirty="0" err="1">
                <a:latin typeface="AppleMyungjo" pitchFamily="2" charset="-127"/>
                <a:ea typeface="AppleMyungjo" pitchFamily="2" charset="-127"/>
              </a:rPr>
              <a:t>example.maude</a:t>
            </a:r>
            <a:endParaRPr kumimoji="1" lang="ko-KR" altLang="en-US" dirty="0">
              <a:latin typeface="AppleMyungjo" pitchFamily="2" charset="-127"/>
              <a:ea typeface="AppleMyungjo" pitchFamily="2" charset="-127"/>
            </a:endParaRPr>
          </a:p>
        </p:txBody>
      </p:sp>
      <p:cxnSp>
        <p:nvCxnSpPr>
          <p:cNvPr id="45" name="꺾인 연결선[E] 44">
            <a:extLst>
              <a:ext uri="{FF2B5EF4-FFF2-40B4-BE49-F238E27FC236}">
                <a16:creationId xmlns:a16="http://schemas.microsoft.com/office/drawing/2014/main" id="{7F027BDE-E8BE-B467-23EE-1F2779A9A72D}"/>
              </a:ext>
            </a:extLst>
          </p:cNvPr>
          <p:cNvCxnSpPr>
            <a:stCxn id="44" idx="2"/>
          </p:cNvCxnSpPr>
          <p:nvPr/>
        </p:nvCxnSpPr>
        <p:spPr>
          <a:xfrm rot="16200000" flipH="1">
            <a:off x="2214869" y="2211679"/>
            <a:ext cx="308281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35175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4A75D-09B3-9397-3A3D-57F8E63F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69D373E4-3759-B32C-32D7-D9CE8DF103DC}"/>
              </a:ext>
            </a:extLst>
          </p:cNvPr>
          <p:cNvSpPr txBox="1"/>
          <p:nvPr/>
        </p:nvSpPr>
        <p:spPr>
          <a:xfrm>
            <a:off x="49406" y="56228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>
                <a:latin typeface="AppleMyungjo" pitchFamily="2" charset="-127"/>
                <a:ea typeface="AppleMyungjo" pitchFamily="2" charset="-127"/>
              </a:rPr>
              <a:t>temp.maude</a:t>
            </a:r>
            <a:endParaRPr kumimoji="1" lang="ko-KR" altLang="en-US" dirty="0">
              <a:latin typeface="AppleMyungjo" pitchFamily="2" charset="-127"/>
              <a:ea typeface="AppleMyungjo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154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235</Words>
  <Application>Microsoft Macintosh PowerPoint</Application>
  <PresentationFormat>와이드스크린</PresentationFormat>
  <Paragraphs>41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AppleMyungjo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이민성</dc:creator>
  <cp:lastModifiedBy>이민성</cp:lastModifiedBy>
  <cp:revision>27</cp:revision>
  <dcterms:created xsi:type="dcterms:W3CDTF">2026-01-12T08:50:11Z</dcterms:created>
  <dcterms:modified xsi:type="dcterms:W3CDTF">2026-01-13T06:04:22Z</dcterms:modified>
</cp:coreProperties>
</file>